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69" r:id="rId3"/>
    <p:sldId id="277" r:id="rId4"/>
    <p:sldId id="278" r:id="rId5"/>
    <p:sldId id="271" r:id="rId6"/>
    <p:sldId id="273" r:id="rId7"/>
    <p:sldId id="280" r:id="rId8"/>
    <p:sldId id="279" r:id="rId9"/>
    <p:sldId id="299" r:id="rId10"/>
    <p:sldId id="281" r:id="rId11"/>
    <p:sldId id="282" r:id="rId12"/>
    <p:sldId id="297" r:id="rId13"/>
    <p:sldId id="298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3010"/>
    <a:srgbClr val="7E2962"/>
    <a:srgbClr val="2E75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93D1E-E882-4939-8C20-570C9EA85E2C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48333-5B32-4A85-905B-65728B577F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1977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93D1E-E882-4939-8C20-570C9EA85E2C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48333-5B32-4A85-905B-65728B577F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3180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93D1E-E882-4939-8C20-570C9EA85E2C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48333-5B32-4A85-905B-65728B577F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2955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93D1E-E882-4939-8C20-570C9EA85E2C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48333-5B32-4A85-905B-65728B577F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7745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93D1E-E882-4939-8C20-570C9EA85E2C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48333-5B32-4A85-905B-65728B577F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5044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93D1E-E882-4939-8C20-570C9EA85E2C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48333-5B32-4A85-905B-65728B577F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9318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93D1E-E882-4939-8C20-570C9EA85E2C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48333-5B32-4A85-905B-65728B577F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7830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93D1E-E882-4939-8C20-570C9EA85E2C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48333-5B32-4A85-905B-65728B577F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7040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93D1E-E882-4939-8C20-570C9EA85E2C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48333-5B32-4A85-905B-65728B577F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1281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93D1E-E882-4939-8C20-570C9EA85E2C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48333-5B32-4A85-905B-65728B577F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4709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93D1E-E882-4939-8C20-570C9EA85E2C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48333-5B32-4A85-905B-65728B577F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3206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293D1E-E882-4939-8C20-570C9EA85E2C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E48333-5B32-4A85-905B-65728B577F1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2493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err="1"/>
              <a:t>Packages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Mecanismos que agrupam </a:t>
            </a:r>
            <a:r>
              <a:rPr lang="pt-BR" u="sng" dirty="0"/>
              <a:t>classes</a:t>
            </a:r>
            <a:r>
              <a:rPr lang="pt-BR" dirty="0"/>
              <a:t> e </a:t>
            </a:r>
            <a:r>
              <a:rPr lang="pt-BR" u="sng" dirty="0"/>
              <a:t>interfaces</a:t>
            </a:r>
            <a:r>
              <a:rPr lang="pt-BR" dirty="0"/>
              <a:t> </a:t>
            </a:r>
            <a:r>
              <a:rPr lang="pt-BR" u="sng" dirty="0"/>
              <a:t>relacionadas</a:t>
            </a:r>
            <a:r>
              <a:rPr lang="pt-BR" dirty="0"/>
              <a:t>. </a:t>
            </a:r>
          </a:p>
          <a:p>
            <a:endParaRPr lang="pt-BR" dirty="0"/>
          </a:p>
          <a:p>
            <a:r>
              <a:rPr lang="pt-BR" dirty="0"/>
              <a:t>Eles são fundamentais para a organização de projetos de software.</a:t>
            </a:r>
          </a:p>
          <a:p>
            <a:endParaRPr lang="pt-BR" dirty="0"/>
          </a:p>
          <a:p>
            <a:r>
              <a:rPr lang="pt-BR" dirty="0"/>
              <a:t>Utilizados para evitar conflitos de nome</a:t>
            </a:r>
          </a:p>
          <a:p>
            <a:endParaRPr lang="pt-BR" dirty="0"/>
          </a:p>
          <a:p>
            <a:r>
              <a:rPr lang="pt-BR" dirty="0"/>
              <a:t>Funcionam como diretórios (pastas)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90778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Herança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Ela permite que uma classe </a:t>
            </a:r>
            <a:r>
              <a:rPr lang="pt-BR" b="1" dirty="0"/>
              <a:t>herde</a:t>
            </a:r>
            <a:r>
              <a:rPr lang="pt-BR" dirty="0"/>
              <a:t> </a:t>
            </a:r>
            <a:r>
              <a:rPr lang="pt-BR" u="sng" dirty="0"/>
              <a:t>atributos</a:t>
            </a:r>
            <a:r>
              <a:rPr lang="pt-BR" dirty="0"/>
              <a:t> e </a:t>
            </a:r>
            <a:r>
              <a:rPr lang="pt-BR" u="sng" dirty="0"/>
              <a:t>métodos</a:t>
            </a:r>
            <a:r>
              <a:rPr lang="pt-BR" dirty="0"/>
              <a:t> de outra classe;</a:t>
            </a:r>
          </a:p>
          <a:p>
            <a:endParaRPr lang="pt-BR" dirty="0"/>
          </a:p>
          <a:p>
            <a:r>
              <a:rPr lang="pt-BR" dirty="0"/>
              <a:t>Reutiliza código, tornando o código mais limpo e facilitando a manutenção;</a:t>
            </a:r>
          </a:p>
          <a:p>
            <a:endParaRPr lang="pt-BR" dirty="0"/>
          </a:p>
          <a:p>
            <a:r>
              <a:rPr lang="pt-BR" dirty="0"/>
              <a:t>Permite a criação de uma hierarquia de classes, apoiando a criação de objetos especializados;</a:t>
            </a:r>
          </a:p>
          <a:p>
            <a:endParaRPr lang="pt-BR" dirty="0"/>
          </a:p>
          <a:p>
            <a:r>
              <a:rPr lang="pt-BR" dirty="0"/>
              <a:t>No Java, uma classe pode herdar de no máximo uma classe (herança simples)</a:t>
            </a:r>
          </a:p>
          <a:p>
            <a:endParaRPr lang="pt-BR" dirty="0"/>
          </a:p>
          <a:p>
            <a:r>
              <a:rPr lang="pt-BR" dirty="0"/>
              <a:t>Termos </a:t>
            </a:r>
            <a:r>
              <a:rPr lang="pt-BR" b="1" dirty="0"/>
              <a:t>é um</a:t>
            </a:r>
            <a:r>
              <a:rPr lang="pt-BR" dirty="0"/>
              <a:t> e </a:t>
            </a:r>
            <a:r>
              <a:rPr lang="pt-BR" b="1" dirty="0"/>
              <a:t>tem um</a:t>
            </a:r>
          </a:p>
        </p:txBody>
      </p:sp>
    </p:spTree>
    <p:extLst>
      <p:ext uri="{BB962C8B-B14F-4D97-AF65-F5344CB8AC3E}">
        <p14:creationId xmlns:p14="http://schemas.microsoft.com/office/powerpoint/2010/main" val="2952623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Código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199" y="1825625"/>
            <a:ext cx="3487615" cy="513129"/>
          </a:xfrm>
        </p:spPr>
        <p:txBody>
          <a:bodyPr/>
          <a:lstStyle/>
          <a:p>
            <a:r>
              <a:rPr lang="pt-BR" dirty="0"/>
              <a:t>Superclasse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6408" y="2338753"/>
            <a:ext cx="3638291" cy="2589074"/>
          </a:xfrm>
          <a:prstGeom prst="rect">
            <a:avLst/>
          </a:prstGeom>
        </p:spPr>
      </p:pic>
      <p:sp>
        <p:nvSpPr>
          <p:cNvPr id="7" name="Espaço Reservado para Conteúdo 2"/>
          <p:cNvSpPr txBox="1">
            <a:spLocks/>
          </p:cNvSpPr>
          <p:nvPr/>
        </p:nvSpPr>
        <p:spPr>
          <a:xfrm>
            <a:off x="5606408" y="1831240"/>
            <a:ext cx="3487615" cy="5131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Subclasse</a:t>
            </a: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2338753"/>
            <a:ext cx="3977970" cy="446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590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Classe Aplicação com o método </a:t>
            </a:r>
            <a:r>
              <a:rPr lang="pt-BR" b="1" dirty="0" err="1"/>
              <a:t>main</a:t>
            </a:r>
            <a:endParaRPr lang="pt-BR" b="1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66202"/>
            <a:ext cx="5708872" cy="420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572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Outro exemplo</a:t>
            </a:r>
          </a:p>
        </p:txBody>
      </p:sp>
      <p:pic>
        <p:nvPicPr>
          <p:cNvPr id="2050" name="Picture 2" descr="Construindo um Diagrama de Classes da UML: Conceitos Básic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25" y="2034381"/>
            <a:ext cx="4476750" cy="3933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93C17C6-27A6-43E3-9BA8-41A51BAFF01D}"/>
              </a:ext>
            </a:extLst>
          </p:cNvPr>
          <p:cNvSpPr txBox="1"/>
          <p:nvPr/>
        </p:nvSpPr>
        <p:spPr>
          <a:xfrm>
            <a:off x="1900679" y="2744986"/>
            <a:ext cx="1380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SuperClasse</a:t>
            </a:r>
            <a:endParaRPr lang="pt-BR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1FB4756-AAA9-4A87-8032-BE3A76683489}"/>
              </a:ext>
            </a:extLst>
          </p:cNvPr>
          <p:cNvSpPr txBox="1"/>
          <p:nvPr/>
        </p:nvSpPr>
        <p:spPr>
          <a:xfrm>
            <a:off x="2006477" y="4917440"/>
            <a:ext cx="1221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SubClasses</a:t>
            </a:r>
            <a:endParaRPr lang="pt-BR" b="1" dirty="0"/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6A024125-A167-4852-82B0-856ECF1EBEC6}"/>
              </a:ext>
            </a:extLst>
          </p:cNvPr>
          <p:cNvCxnSpPr>
            <a:stCxn id="4" idx="3"/>
          </p:cNvCxnSpPr>
          <p:nvPr/>
        </p:nvCxnSpPr>
        <p:spPr>
          <a:xfrm>
            <a:off x="3281185" y="2929652"/>
            <a:ext cx="17276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F730CBA3-1CF8-4E60-810A-0F2CFAB7C945}"/>
              </a:ext>
            </a:extLst>
          </p:cNvPr>
          <p:cNvCxnSpPr>
            <a:stCxn id="6" idx="3"/>
          </p:cNvCxnSpPr>
          <p:nvPr/>
        </p:nvCxnSpPr>
        <p:spPr>
          <a:xfrm>
            <a:off x="3228286" y="5102106"/>
            <a:ext cx="9474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9037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Sobrescrita de Métodos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Conceito de Programação Orientada a Objetos onde uma classe filha fornece uma implementação específica para um método já definido em sua superclasse</a:t>
            </a:r>
          </a:p>
          <a:p>
            <a:endParaRPr lang="pt-BR" dirty="0"/>
          </a:p>
          <a:p>
            <a:r>
              <a:rPr lang="pt-BR" dirty="0"/>
              <a:t>Mecanismo da programação orientada a objetos que permite criar uma nova versão de um método herdado de uma superclasse. </a:t>
            </a:r>
          </a:p>
          <a:p>
            <a:endParaRPr lang="pt-BR" dirty="0"/>
          </a:p>
          <a:p>
            <a:r>
              <a:rPr lang="pt-BR" dirty="0"/>
              <a:t>Para existir sobrescrita deve existir a herança. Logo, sem herança não existe sobrescrita.</a:t>
            </a:r>
          </a:p>
          <a:p>
            <a:endParaRPr lang="pt-BR" dirty="0"/>
          </a:p>
          <a:p>
            <a:r>
              <a:rPr lang="pt-BR" dirty="0"/>
              <a:t>Deve manter a mesma assinatura (nome, parâmetros) e tipo de retorno</a:t>
            </a:r>
          </a:p>
        </p:txBody>
      </p:sp>
    </p:spTree>
    <p:extLst>
      <p:ext uri="{BB962C8B-B14F-4D97-AF65-F5344CB8AC3E}">
        <p14:creationId xmlns:p14="http://schemas.microsoft.com/office/powerpoint/2010/main" val="1870975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Palavra </a:t>
            </a:r>
            <a:r>
              <a:rPr lang="pt-BR" dirty="0" err="1"/>
              <a:t>super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Referência usada dentro de uma subclasse (classe filha) para acessar membros (atributos, métodos ou construtores) da sua superclasse imediata (classe pai).</a:t>
            </a:r>
          </a:p>
          <a:p>
            <a:endParaRPr lang="pt-BR" dirty="0"/>
          </a:p>
          <a:p>
            <a:r>
              <a:rPr lang="pt-BR" dirty="0"/>
              <a:t>É uma variável de referência que permite acessar a superclasse de uma classe. </a:t>
            </a:r>
          </a:p>
          <a:p>
            <a:endParaRPr lang="pt-BR" dirty="0"/>
          </a:p>
          <a:p>
            <a:r>
              <a:rPr lang="pt-BR" dirty="0"/>
              <a:t>Usada para acessar os membros da superclasse, como métodos, campos e construtores.</a:t>
            </a:r>
          </a:p>
          <a:p>
            <a:endParaRPr lang="pt-BR" dirty="0"/>
          </a:p>
          <a:p>
            <a:r>
              <a:rPr lang="pt-BR" dirty="0"/>
              <a:t> Se utilizada, a palavra </a:t>
            </a:r>
            <a:r>
              <a:rPr lang="pt-BR" dirty="0" err="1"/>
              <a:t>super</a:t>
            </a:r>
            <a:r>
              <a:rPr lang="pt-BR" dirty="0"/>
              <a:t>() deve ser a primeira instrução no construtor da subclasse.</a:t>
            </a:r>
          </a:p>
        </p:txBody>
      </p:sp>
    </p:spTree>
    <p:extLst>
      <p:ext uri="{BB962C8B-B14F-4D97-AF65-F5344CB8AC3E}">
        <p14:creationId xmlns:p14="http://schemas.microsoft.com/office/powerpoint/2010/main" val="3127815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código com sobrescrita de métodos: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993" y="1690688"/>
            <a:ext cx="4087550" cy="4455135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890" y="1690688"/>
            <a:ext cx="4041027" cy="3259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564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12E756-1CCB-4379-8AE9-C73DBEF13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Diferença entre </a:t>
            </a:r>
            <a:r>
              <a:rPr lang="pt-BR" b="1" dirty="0" err="1"/>
              <a:t>super</a:t>
            </a:r>
            <a:r>
              <a:rPr lang="pt-BR" dirty="0"/>
              <a:t> e </a:t>
            </a:r>
            <a:r>
              <a:rPr lang="pt-BR" b="1" dirty="0" err="1"/>
              <a:t>this</a:t>
            </a:r>
            <a:endParaRPr lang="pt-BR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C416B08-14EA-44C1-B3E2-D7AC10688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 err="1"/>
              <a:t>this</a:t>
            </a:r>
            <a:r>
              <a:rPr lang="pt-BR" dirty="0"/>
              <a:t>: Faz referência ao objeto da própria classe atual.</a:t>
            </a:r>
          </a:p>
          <a:p>
            <a:endParaRPr lang="pt-BR" dirty="0"/>
          </a:p>
          <a:p>
            <a:r>
              <a:rPr lang="pt-BR" b="1" dirty="0" err="1"/>
              <a:t>super</a:t>
            </a:r>
            <a:r>
              <a:rPr lang="pt-BR" dirty="0"/>
              <a:t>: Faz referência à classe pai direta do objeto atual</a:t>
            </a:r>
          </a:p>
        </p:txBody>
      </p:sp>
    </p:spTree>
    <p:extLst>
      <p:ext uri="{BB962C8B-B14F-4D97-AF65-F5344CB8AC3E}">
        <p14:creationId xmlns:p14="http://schemas.microsoft.com/office/powerpoint/2010/main" val="1636361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Classe Abstrata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Usada quando não faz sentido termos instâncias de determinadas classes</a:t>
            </a:r>
          </a:p>
          <a:p>
            <a:endParaRPr lang="pt-BR" dirty="0"/>
          </a:p>
          <a:p>
            <a:r>
              <a:rPr lang="pt-BR" dirty="0"/>
              <a:t>Não é permitida a existência de objetos da classe se ela for abstrata </a:t>
            </a:r>
          </a:p>
          <a:p>
            <a:endParaRPr lang="pt-BR" dirty="0"/>
          </a:p>
          <a:p>
            <a:r>
              <a:rPr lang="pt-BR" dirty="0"/>
              <a:t>Todas as classes não abstratas que herdam de uma classe abstrata são obrigadas a implementar os métodos abstratos</a:t>
            </a:r>
          </a:p>
          <a:p>
            <a:endParaRPr lang="pt-BR" dirty="0"/>
          </a:p>
          <a:p>
            <a:r>
              <a:rPr lang="pt-BR" dirty="0"/>
              <a:t>Classes abstratas não precisam obrigatoriamente ter métodos abstratos</a:t>
            </a:r>
          </a:p>
        </p:txBody>
      </p:sp>
    </p:spTree>
    <p:extLst>
      <p:ext uri="{BB962C8B-B14F-4D97-AF65-F5344CB8AC3E}">
        <p14:creationId xmlns:p14="http://schemas.microsoft.com/office/powerpoint/2010/main" val="4222174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0601D8-781E-4A95-B58B-FEE2B46DC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Método Abstrato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87F477-1E28-4138-87C3-5D57D8D0B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Utilizado quando não faz sentido termos a implementação do método;</a:t>
            </a:r>
          </a:p>
          <a:p>
            <a:endParaRPr lang="pt-BR" dirty="0"/>
          </a:p>
          <a:p>
            <a:r>
              <a:rPr lang="pt-BR" dirty="0"/>
              <a:t>Para declarar um método abstrato, basta utilizar o modificador abstract na declaração do método</a:t>
            </a:r>
          </a:p>
          <a:p>
            <a:endParaRPr lang="pt-BR" dirty="0"/>
          </a:p>
          <a:p>
            <a:r>
              <a:rPr lang="pt-BR" u="sng" dirty="0"/>
              <a:t>Métodos abstratos não são implementados</a:t>
            </a:r>
          </a:p>
          <a:p>
            <a:endParaRPr lang="pt-BR" dirty="0"/>
          </a:p>
          <a:p>
            <a:r>
              <a:rPr lang="pt-BR" u="sng" dirty="0"/>
              <a:t>Métodos abstratos só podem existir em classes abstratas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86682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  <a:endParaRPr lang="pt-BR" u="sng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35785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dirty="0"/>
              <a:t>1 – Crie uma aplicação para cadastrar </a:t>
            </a:r>
            <a:r>
              <a:rPr lang="pt-BR" dirty="0" err="1"/>
              <a:t>ContaCorrente</a:t>
            </a:r>
            <a:r>
              <a:rPr lang="pt-BR" dirty="0"/>
              <a:t>, </a:t>
            </a:r>
            <a:r>
              <a:rPr lang="pt-BR" dirty="0" err="1"/>
              <a:t>ContaPoupanca</a:t>
            </a:r>
            <a:r>
              <a:rPr lang="pt-BR" dirty="0"/>
              <a:t> e </a:t>
            </a:r>
            <a:r>
              <a:rPr lang="pt-BR" dirty="0" err="1"/>
              <a:t>ContaDigital</a:t>
            </a:r>
            <a:r>
              <a:rPr lang="pt-BR" dirty="0"/>
              <a:t>. Cadastrar 2 clientes para cada tipo de conta.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2 - Criar uma aplicação utilizando herança e sobrescrita de métodos para calcular a área das seguintes figuras geométricas: (com classe abstrata)</a:t>
            </a:r>
          </a:p>
          <a:p>
            <a:pPr lvl="1"/>
            <a:r>
              <a:rPr lang="pt-BR" dirty="0"/>
              <a:t>Triangulo</a:t>
            </a:r>
          </a:p>
          <a:p>
            <a:pPr lvl="1"/>
            <a:r>
              <a:rPr lang="pt-BR" dirty="0"/>
              <a:t>Retângulo</a:t>
            </a:r>
          </a:p>
          <a:p>
            <a:pPr lvl="1"/>
            <a:r>
              <a:rPr lang="pt-BR" dirty="0"/>
              <a:t>Quadrado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3 - Crie uma classe </a:t>
            </a:r>
            <a:r>
              <a:rPr lang="pt-BR" dirty="0" err="1"/>
              <a:t>Funcionario</a:t>
            </a:r>
            <a:r>
              <a:rPr lang="pt-BR" dirty="0"/>
              <a:t> com atributos como nome e salario. Em seguida, crie as subclasses Gerente e Assistente, onde o Gerente tem um salário fixo maior e pode realizar uma tarefa extra, como aprovar folgas. Já os assistentes, assim como os gerentes podem listar seus dados.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90834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61D74C-22E8-4E90-9C1F-FA796A659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com a utilização de classe abstrata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B02F6F-48D8-40D3-BE86-546A82CA34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Uma loja online precisa implementar um sistema de pagamentos capaz de lidar com diferentes formas de pagamento, como cartão de crédito e boleto bancário. </a:t>
            </a:r>
          </a:p>
          <a:p>
            <a:r>
              <a:rPr lang="pt-BR" dirty="0"/>
              <a:t>Cada forma de pagamento tem seu próprio modo de processamento, mas todas compartilham a característica de envolver um valor a ser pago.</a:t>
            </a:r>
          </a:p>
          <a:p>
            <a:r>
              <a:rPr lang="pt-BR" dirty="0"/>
              <a:t>Para garantir que todos os tipos de pagamento sigam uma estrutura comum, a loja deseja utilizar uma classe abstrata chamada Pagamento, que contenha um método abstrato processar() responsável por executar o pagamento.</a:t>
            </a:r>
          </a:p>
          <a:p>
            <a:r>
              <a:rPr lang="pt-BR" dirty="0"/>
              <a:t>As formas concretas de pagamento devem ser implementadas em classes separadas: </a:t>
            </a:r>
            <a:r>
              <a:rPr lang="pt-BR" dirty="0" err="1"/>
              <a:t>CartaoCredito</a:t>
            </a:r>
            <a:r>
              <a:rPr lang="pt-BR" dirty="0"/>
              <a:t>: processa um pagamento informando que está sendo feito no cartão. </a:t>
            </a:r>
            <a:r>
              <a:rPr lang="pt-BR" dirty="0" err="1"/>
              <a:t>BoletoBancario</a:t>
            </a:r>
            <a:r>
              <a:rPr lang="pt-BR" dirty="0"/>
              <a:t>: simula a geração de um boleto com o valor correspondente.</a:t>
            </a:r>
          </a:p>
        </p:txBody>
      </p:sp>
    </p:spTree>
    <p:extLst>
      <p:ext uri="{BB962C8B-B14F-4D97-AF65-F5344CB8AC3E}">
        <p14:creationId xmlns:p14="http://schemas.microsoft.com/office/powerpoint/2010/main" val="20576627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1031</TotalTime>
  <Words>629</Words>
  <Application>Microsoft Office PowerPoint</Application>
  <PresentationFormat>Widescreen</PresentationFormat>
  <Paragraphs>78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Tema do Office</vt:lpstr>
      <vt:lpstr>Packages</vt:lpstr>
      <vt:lpstr>Herança</vt:lpstr>
      <vt:lpstr>Exemplo de Código</vt:lpstr>
      <vt:lpstr>Classe Aplicação com o método main</vt:lpstr>
      <vt:lpstr>Outro exemplo</vt:lpstr>
      <vt:lpstr>Sobrescrita de Métodos</vt:lpstr>
      <vt:lpstr>Palavra super</vt:lpstr>
      <vt:lpstr>Exemplo código com sobrescrita de métodos:</vt:lpstr>
      <vt:lpstr>Diferença entre super e this</vt:lpstr>
      <vt:lpstr>Classe Abstrata</vt:lpstr>
      <vt:lpstr>Método Abstrato</vt:lpstr>
      <vt:lpstr>Exercícios</vt:lpstr>
      <vt:lpstr>Exercício com a utilização de classe abstrata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Admin</dc:creator>
  <cp:lastModifiedBy>userlocal</cp:lastModifiedBy>
  <cp:revision>98</cp:revision>
  <dcterms:created xsi:type="dcterms:W3CDTF">2025-03-12T13:08:23Z</dcterms:created>
  <dcterms:modified xsi:type="dcterms:W3CDTF">2026-04-07T20:11:06Z</dcterms:modified>
</cp:coreProperties>
</file>